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14"/>
  </p:handoutMasterIdLst>
  <p:sldIdLst>
    <p:sldId id="256" r:id="rId4"/>
    <p:sldId id="257" r:id="rId6"/>
    <p:sldId id="258" r:id="rId7"/>
    <p:sldId id="259" r:id="rId8"/>
    <p:sldId id="268" r:id="rId9"/>
    <p:sldId id="260" r:id="rId10"/>
    <p:sldId id="266" r:id="rId11"/>
    <p:sldId id="262" r:id="rId12"/>
    <p:sldId id="269" r:id="rId1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IT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0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661536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4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661536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4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9104" y="984131"/>
            <a:ext cx="7477601" cy="249959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6560"/>
              </a:lnSpc>
              <a:buNone/>
            </a:pPr>
            <a:r>
              <a:rPr lang="en-US" sz="5250" b="1" kern="0" spc="-157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Real-time Session Monitoring Application with Machine Learning Algorithm</a:t>
            </a:r>
            <a:endParaRPr lang="en-US" sz="5250" b="1" kern="0" spc="-157" dirty="0">
              <a:solidFill>
                <a:srgbClr val="591CE6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19599" y="4678680"/>
            <a:ext cx="7477601" cy="1066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fornian FB" panose="0207040306080B030204" charset="0"/>
                <a:ea typeface="Eudoxus Sans" pitchFamily="34" charset="-122"/>
                <a:cs typeface="Californian FB" panose="0207040306080B030204" charset="0"/>
              </a:rPr>
              <a:t>An upcoming project involves training an application using a machine learning algorithm and relevant data sets. The aim is to develop an advanced model with superior accuracy and efficiency.Revolutionizing Session Monitoring through Advanced Machine Learning</a:t>
            </a:r>
            <a:endParaRPr lang="en-US" sz="1750" dirty="0">
              <a:solidFill>
                <a:srgbClr val="272525"/>
              </a:solidFill>
              <a:latin typeface="Californian FB" panose="0207040306080B030204" charset="0"/>
              <a:ea typeface="Eudoxus Sans" pitchFamily="34" charset="-122"/>
              <a:cs typeface="Californian FB" panose="0207040306080B03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19599" y="6011466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74961" y="6576457"/>
            <a:ext cx="2334816" cy="388858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185" b="1" dirty="0">
                <a:solidFill>
                  <a:srgbClr val="272525"/>
                </a:solidFill>
                <a:latin typeface="Times New Roman" panose="02020603050405020304" charset="0"/>
                <a:ea typeface="Eudoxus Sans" pitchFamily="34" charset="-122"/>
                <a:cs typeface="Times New Roman" panose="02020603050405020304" charset="0"/>
              </a:rPr>
              <a:t>by </a:t>
            </a:r>
            <a:r>
              <a:rPr lang="en-IN" altLang="en-US" sz="2185" b="1" dirty="0">
                <a:solidFill>
                  <a:srgbClr val="272525"/>
                </a:solidFill>
                <a:latin typeface="Times New Roman" panose="02020603050405020304" charset="0"/>
                <a:ea typeface="Eudoxus Sans" pitchFamily="34" charset="-122"/>
                <a:cs typeface="Times New Roman" panose="02020603050405020304" charset="0"/>
              </a:rPr>
              <a:t>Team (Soumik, Madhusnuhi, Parija, Swarnim)</a:t>
            </a:r>
            <a:endParaRPr lang="en-IN" altLang="en-US" sz="2185" b="1" dirty="0">
              <a:solidFill>
                <a:srgbClr val="272525"/>
              </a:solidFill>
              <a:latin typeface="Times New Roman" panose="02020603050405020304" charset="0"/>
              <a:ea typeface="Eudoxus Sans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3060"/>
              </a:lnSpc>
              <a:buNone/>
            </a:pPr>
            <a:endParaRPr lang="en-IN" altLang="en-US" sz="2185" b="1" dirty="0">
              <a:solidFill>
                <a:srgbClr val="272525"/>
              </a:solidFill>
              <a:latin typeface="Times New Roman" panose="02020603050405020304" charset="0"/>
              <a:ea typeface="Eudoxus Sans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6985" y="0"/>
            <a:ext cx="14630400" cy="8229600"/>
          </a:xfrm>
          <a:prstGeom prst="rect">
            <a:avLst/>
          </a:prstGeom>
          <a:solidFill>
            <a:srgbClr val="FDFAF7"/>
          </a:solidFill>
        </p:spPr>
      </p:sp>
      <p:sp>
        <p:nvSpPr>
          <p:cNvPr id="4" name="Text 2"/>
          <p:cNvSpPr/>
          <p:nvPr/>
        </p:nvSpPr>
        <p:spPr>
          <a:xfrm>
            <a:off x="2037993" y="1869519"/>
            <a:ext cx="10554414" cy="13887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US" sz="4375" b="1" kern="0" spc="-131" dirty="0">
                <a:solidFill>
                  <a:srgbClr val="591CE6"/>
                </a:solidFill>
                <a:latin typeface="Californian FB" panose="0207040306080B030204" charset="0"/>
                <a:ea typeface="p22-mackinac-pro" pitchFamily="34" charset="-122"/>
                <a:cs typeface="Californian FB" panose="0207040306080B030204" charset="0"/>
              </a:rPr>
              <a:t>Overview of the Machine Learning Algorithm</a:t>
            </a:r>
            <a:endParaRPr lang="en-US" sz="4375" b="1" kern="0" spc="-131" dirty="0">
              <a:solidFill>
                <a:srgbClr val="591CE6"/>
              </a:solidFill>
              <a:latin typeface="Californian FB" panose="0207040306080B030204" charset="0"/>
              <a:ea typeface="p22-mackinac-pro" pitchFamily="34" charset="-122"/>
              <a:cs typeface="Californian FB" panose="0207040306080B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37993" y="3813691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r>
              <a:rPr lang="en-US" sz="2185" b="1" kern="0" spc="-66" dirty="0">
                <a:solidFill>
                  <a:srgbClr val="591CE6"/>
                </a:solidFill>
                <a:latin typeface="Californian FB" panose="0207040306080B030204" charset="0"/>
                <a:ea typeface="p22-mackinac-pro" pitchFamily="34" charset="-122"/>
                <a:cs typeface="Californian FB" panose="0207040306080B030204" charset="0"/>
              </a:rPr>
              <a:t>Complexity</a:t>
            </a:r>
            <a:endParaRPr lang="en-US" sz="2185" b="1" kern="0" spc="-66" dirty="0">
              <a:solidFill>
                <a:srgbClr val="591CE6"/>
              </a:solidFill>
              <a:latin typeface="Californian FB" panose="0207040306080B030204" charset="0"/>
              <a:ea typeface="p22-mackinac-pro" pitchFamily="34" charset="-122"/>
              <a:cs typeface="Californian FB" panose="0207040306080B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37993" y="4383048"/>
            <a:ext cx="3156347" cy="17770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fornian FB" panose="0207040306080B030204" charset="0"/>
                <a:ea typeface="Eudoxus Sans" pitchFamily="34" charset="-122"/>
                <a:cs typeface="Californian FB" panose="0207040306080B030204" charset="0"/>
              </a:rPr>
              <a:t>The chosen machine learning algorithm is known for its intricate structure, involving multiple layers of interconnected nodes.</a:t>
            </a:r>
            <a:endParaRPr lang="en-US" sz="1750" dirty="0">
              <a:solidFill>
                <a:srgbClr val="272525"/>
              </a:solidFill>
              <a:latin typeface="Californian FB" panose="0207040306080B030204" charset="0"/>
              <a:ea typeface="Eudoxus Sans" pitchFamily="34" charset="-122"/>
              <a:cs typeface="Californian FB" panose="0207040306080B03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43932" y="3813691"/>
            <a:ext cx="2384227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r>
              <a:rPr lang="en-US" sz="2185" b="1" kern="0" spc="-66" dirty="0">
                <a:solidFill>
                  <a:srgbClr val="591CE6"/>
                </a:solidFill>
                <a:latin typeface="Californian FB" panose="0207040306080B030204" charset="0"/>
                <a:ea typeface="p22-mackinac-pro" pitchFamily="34" charset="-122"/>
                <a:cs typeface="Californian FB" panose="0207040306080B030204" charset="0"/>
              </a:rPr>
              <a:t>Feature Extraction</a:t>
            </a:r>
            <a:endParaRPr lang="en-US" sz="2185" b="1" kern="0" spc="-66" dirty="0">
              <a:solidFill>
                <a:srgbClr val="591CE6"/>
              </a:solidFill>
              <a:latin typeface="Californian FB" panose="0207040306080B030204" charset="0"/>
              <a:ea typeface="p22-mackinac-pro" pitchFamily="34" charset="-122"/>
              <a:cs typeface="Californian FB" panose="0207040306080B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43932" y="4383048"/>
            <a:ext cx="3156347" cy="142160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fornian FB" panose="0207040306080B030204" charset="0"/>
                <a:ea typeface="Eudoxus Sans" pitchFamily="34" charset="-122"/>
                <a:cs typeface="Californian FB" panose="0207040306080B030204" charset="0"/>
              </a:rPr>
              <a:t>This algorithm excels in identifying and extracting intricate patterns and features from complex datasets.</a:t>
            </a:r>
            <a:endParaRPr lang="en-US" sz="1750" dirty="0">
              <a:solidFill>
                <a:srgbClr val="272525"/>
              </a:solidFill>
              <a:latin typeface="Californian FB" panose="0207040306080B030204" charset="0"/>
              <a:ea typeface="Eudoxus Sans" pitchFamily="34" charset="-122"/>
              <a:cs typeface="Californian FB" panose="0207040306080B03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49872" y="3813691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r>
              <a:rPr lang="en-US" sz="2185" b="1" kern="0" spc="-66" dirty="0">
                <a:solidFill>
                  <a:srgbClr val="591CE6"/>
                </a:solidFill>
                <a:latin typeface="Californian FB" panose="0207040306080B030204" charset="0"/>
                <a:ea typeface="p22-mackinac-pro" pitchFamily="34" charset="-122"/>
                <a:cs typeface="Californian FB" panose="0207040306080B030204" charset="0"/>
              </a:rPr>
              <a:t>Flexible Learning</a:t>
            </a:r>
            <a:endParaRPr lang="en-US" sz="2185" b="1" kern="0" spc="-66" dirty="0">
              <a:solidFill>
                <a:srgbClr val="591CE6"/>
              </a:solidFill>
              <a:latin typeface="Californian FB" panose="0207040306080B030204" charset="0"/>
              <a:ea typeface="p22-mackinac-pro" pitchFamily="34" charset="-122"/>
              <a:cs typeface="Californian FB" panose="0207040306080B03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449872" y="4383048"/>
            <a:ext cx="3156347" cy="17770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fornian FB" panose="0207040306080B030204" charset="0"/>
                <a:ea typeface="Eudoxus Sans" pitchFamily="34" charset="-122"/>
                <a:cs typeface="Californian FB" panose="0207040306080B030204" charset="0"/>
              </a:rPr>
              <a:t>It adapts to changing scenarios, allowing the system to quickly learn and update its behavior based on new data.</a:t>
            </a:r>
            <a:endParaRPr lang="en-US" sz="1750" dirty="0">
              <a:solidFill>
                <a:srgbClr val="272525"/>
              </a:solidFill>
              <a:latin typeface="Californian FB" panose="0207040306080B030204" charset="0"/>
              <a:ea typeface="Eudoxus Sans" pitchFamily="34" charset="-122"/>
              <a:cs typeface="Californian FB" panose="0207040306080B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6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</p:spPr>
        <p:txBody>
          <a:bodyPr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34760"/>
            <a:ext cx="9041249" cy="694373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US" sz="4375" b="1" kern="0" spc="-131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Explanation of the Training Process</a:t>
            </a:r>
            <a:endParaRPr lang="en-US" sz="437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99" y="1962388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7428" y="2184559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185" b="1" kern="0" spc="-66" dirty="0">
                <a:solidFill>
                  <a:srgbClr val="272525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Data Collection</a:t>
            </a:r>
            <a:endParaRPr lang="en-US" sz="218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277428" y="2664976"/>
            <a:ext cx="7862173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fornian FB" panose="0207040306080B030204" charset="0"/>
                <a:ea typeface="Eudoxus Sans" pitchFamily="34" charset="-122"/>
                <a:cs typeface="Californian FB" panose="0207040306080B030204" charset="0"/>
              </a:rPr>
              <a:t>Gathering diverse and comprehensive datasets relevant to the application's objectives.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9" y="3739872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7428" y="3962043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185" b="1" kern="0" spc="-66" dirty="0">
                <a:solidFill>
                  <a:srgbClr val="272525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Algorithm Type</a:t>
            </a:r>
            <a:endParaRPr lang="en-US" sz="2185" b="1" kern="0" spc="-66" dirty="0">
              <a:solidFill>
                <a:srgbClr val="272525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277428" y="4442460"/>
            <a:ext cx="7862173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Utilizing a supervised machine learning algorithm for accurate session behavior prediction and anomaly detection.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99" y="5517356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77428" y="5739527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2185" b="1" kern="0" spc="-66" dirty="0">
                <a:solidFill>
                  <a:srgbClr val="272525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Model Training</a:t>
            </a:r>
            <a:endParaRPr lang="en-US" sz="218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277428" y="6219944"/>
            <a:ext cx="7862173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fornian FB" panose="0207040306080B030204" charset="0"/>
                <a:ea typeface="Eudoxus Sans" pitchFamily="34" charset="-122"/>
                <a:cs typeface="Californian FB" panose="0207040306080B030204" charset="0"/>
              </a:rPr>
              <a:t>Training the algorithm with historical session data to enhance its predictive capabilities.Implementing continuous learning to adapt to evolving session patterns and trends.</a:t>
            </a:r>
            <a:endParaRPr lang="en-US" sz="1750" dirty="0">
              <a:solidFill>
                <a:srgbClr val="272525"/>
              </a:solidFill>
              <a:latin typeface="Californian FB" panose="0207040306080B030204" charset="0"/>
              <a:ea typeface="Eudoxus Sans" pitchFamily="34" charset="-122"/>
              <a:cs typeface="Californian FB" panose="0207040306080B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10" grpId="0"/>
      <p:bldP spid="10" grpId="1"/>
      <p:bldP spid="13" grpId="0"/>
      <p:bldP spid="13" grpId="1"/>
      <p:bldP spid="8" grpId="0"/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" y="-7239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1270" y="-72390"/>
            <a:ext cx="14630400" cy="8229600"/>
          </a:xfrm>
          <a:prstGeom prst="rect">
            <a:avLst/>
          </a:prstGeom>
          <a:solidFill>
            <a:srgbClr val="FDFAF7"/>
          </a:solidFill>
        </p:spPr>
      </p:sp>
      <p:sp>
        <p:nvSpPr>
          <p:cNvPr id="4" name="Text 2"/>
          <p:cNvSpPr/>
          <p:nvPr/>
        </p:nvSpPr>
        <p:spPr>
          <a:xfrm>
            <a:off x="2039263" y="2650569"/>
            <a:ext cx="8078629" cy="694373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4375" b="1" kern="0" spc="-131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Project Overview</a:t>
            </a:r>
            <a:endParaRPr lang="en-US" sz="4375" b="1" kern="0" spc="-131" dirty="0">
              <a:solidFill>
                <a:srgbClr val="591CE6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39263" y="3789283"/>
            <a:ext cx="10554414" cy="1644848"/>
          </a:xfrm>
          <a:prstGeom prst="roundRect">
            <a:avLst>
              <a:gd name="adj" fmla="val 60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6883" y="3796903"/>
            <a:ext cx="10538103" cy="63710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270125" y="3937754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charset="0"/>
                <a:ea typeface="Eudoxus Sans" pitchFamily="34" charset="-122"/>
                <a:cs typeface="Times New Roman" panose="02020603050405020304" charset="0"/>
              </a:rPr>
              <a:t>Objective</a:t>
            </a:r>
            <a:endParaRPr lang="en-US" sz="1750" dirty="0">
              <a:solidFill>
                <a:srgbClr val="272525"/>
              </a:solidFill>
              <a:latin typeface="Times New Roman" panose="02020603050405020304" charset="0"/>
              <a:ea typeface="Eudoxus Sans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86279" y="3937754"/>
            <a:ext cx="306038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Times New Roman" panose="02020603050405020304" charset="0"/>
                <a:cs typeface="Times New Roman" panose="02020603050405020304" charset="0"/>
              </a:rPr>
              <a:t>Key Focus</a:t>
            </a: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98623" y="3937754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Times New Roman" panose="02020603050405020304" charset="0"/>
                <a:cs typeface="Times New Roman" panose="02020603050405020304" charset="0"/>
              </a:rPr>
              <a:t>Benefits</a:t>
            </a: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ts val="2800"/>
              </a:lnSpc>
              <a:buNone/>
            </a:pP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56130" y="4434205"/>
            <a:ext cx="10537825" cy="213296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2270125" y="4574858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Developing a real-time session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monitoring application using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machine learning algorithms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for accurate and proactive insights.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86279" y="4574858"/>
            <a:ext cx="3060383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Prioritizing accurate session duration calculation, threshold limit monitoring, and emergency alert systems for enhanced user experience.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98305" y="4574540"/>
            <a:ext cx="3064510" cy="46672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Improving performance, security,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and user experience through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real-time insihts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and predictive analysis.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" y="-7239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1270" y="-72390"/>
            <a:ext cx="14630400" cy="8229600"/>
          </a:xfrm>
          <a:prstGeom prst="rect">
            <a:avLst/>
          </a:prstGeom>
          <a:solidFill>
            <a:srgbClr val="FDFAF7"/>
          </a:solidFill>
        </p:spPr>
      </p:sp>
      <p:sp>
        <p:nvSpPr>
          <p:cNvPr id="4" name="Text 2"/>
          <p:cNvSpPr/>
          <p:nvPr/>
        </p:nvSpPr>
        <p:spPr>
          <a:xfrm>
            <a:off x="2039263" y="2650569"/>
            <a:ext cx="8078629" cy="694373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US" sz="4375" b="1" kern="0" spc="-131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Dataset and Parameters</a:t>
            </a:r>
            <a:endParaRPr lang="en-US" sz="4375" b="1" kern="0" spc="-131" dirty="0">
              <a:solidFill>
                <a:srgbClr val="591CE6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39263" y="3789283"/>
            <a:ext cx="10554414" cy="1644848"/>
          </a:xfrm>
          <a:prstGeom prst="roundRect">
            <a:avLst>
              <a:gd name="adj" fmla="val 60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6883" y="3796903"/>
            <a:ext cx="10538103" cy="63710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270125" y="3937754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Times New Roman" panose="02020603050405020304" charset="0"/>
                <a:ea typeface="Eudoxus Sans" pitchFamily="34" charset="-122"/>
                <a:cs typeface="Times New Roman" panose="02020603050405020304" charset="0"/>
              </a:rPr>
              <a:t>Data Sources</a:t>
            </a:r>
            <a:endParaRPr lang="en-US" sz="1750" dirty="0">
              <a:solidFill>
                <a:srgbClr val="272525"/>
              </a:solidFill>
              <a:latin typeface="Times New Roman" panose="02020603050405020304" charset="0"/>
              <a:ea typeface="Eudoxus Sans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86914" y="3937754"/>
            <a:ext cx="306038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Times New Roman" panose="02020603050405020304" charset="0"/>
                <a:cs typeface="Times New Roman" panose="02020603050405020304" charset="0"/>
              </a:rPr>
              <a:t>Key Parameters</a:t>
            </a: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98623" y="3937754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Times New Roman" panose="02020603050405020304" charset="0"/>
                <a:cs typeface="Times New Roman" panose="02020603050405020304" charset="0"/>
              </a:rPr>
              <a:t>Data Cleansing</a:t>
            </a: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38985" y="4434205"/>
            <a:ext cx="10537825" cy="234378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2270125" y="4575175"/>
            <a:ext cx="3064510" cy="149161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Incorporating user interaction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 data, system logs, and network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 activity to create a comprehensive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 dataset.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86279" y="4574858"/>
            <a:ext cx="3060383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Considering session duration, active time, idle time, and network latency</a:t>
            </a: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 </a:t>
            </a: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as primary parameters for analysis.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98305" y="4574540"/>
            <a:ext cx="3064510" cy="149225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Implementing rigorous data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cleansing processes to ensure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the accuracy</a:t>
            </a: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 </a:t>
            </a: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and reliability 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latin typeface="Californian FB" panose="0207040306080B030204" charset="0"/>
                <a:cs typeface="Californian FB" panose="0207040306080B030204" charset="0"/>
              </a:rPr>
              <a:t>of the dataset.</a:t>
            </a: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-413385" y="0"/>
            <a:ext cx="14630400" cy="8229600"/>
          </a:xfrm>
          <a:prstGeom prst="rect">
            <a:avLst/>
          </a:prstGeom>
          <a:solidFill>
            <a:srgbClr val="FDFAF7"/>
          </a:solidFill>
        </p:spPr>
        <p:txBody>
          <a:bodyPr/>
          <a:p>
            <a:endParaRPr lang="en-IN" altLang="en-US"/>
          </a:p>
        </p:txBody>
      </p:sp>
      <p:sp>
        <p:nvSpPr>
          <p:cNvPr id="4" name="Text 2"/>
          <p:cNvSpPr/>
          <p:nvPr/>
        </p:nvSpPr>
        <p:spPr>
          <a:xfrm>
            <a:off x="1271270" y="298450"/>
            <a:ext cx="10554335" cy="8477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US" sz="4375" b="1" kern="0" spc="-131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Session Duratio</a:t>
            </a:r>
            <a:r>
              <a:rPr lang="en-IN" altLang="en-US" sz="4375" b="1" kern="0" spc="-131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n</a:t>
            </a:r>
            <a:r>
              <a:rPr lang="en-US" sz="4375" b="1" kern="0" spc="-131" dirty="0">
                <a:solidFill>
                  <a:srgbClr val="591CE6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 Calculation</a:t>
            </a:r>
            <a:endParaRPr lang="en-US" sz="4375" b="1" kern="0" spc="-131" dirty="0">
              <a:solidFill>
                <a:srgbClr val="591CE6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37715" y="2922905"/>
            <a:ext cx="5110480" cy="168846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5250"/>
              </a:lnSpc>
              <a:buNone/>
            </a:pP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3482221" y="4963358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endParaRPr lang="en-US" sz="218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6540" y="1270635"/>
            <a:ext cx="5110480" cy="49930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b="1" u="sng" dirty="0">
                <a:latin typeface="Californian FB" panose="0207040306080B030204" charset="0"/>
                <a:cs typeface="Californian FB" panose="0207040306080B030204" charset="0"/>
              </a:rPr>
              <a:t>Algorithmic Precision :</a:t>
            </a:r>
            <a:endParaRPr lang="en-IN" altLang="en-US" sz="1750" b="1" u="sng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Utilizing machine learning algorithms to precisely calculate session durations based on user interaction patterns.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endParaRPr lang="en-IN" altLang="en-US" sz="1750" b="1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b="1" u="sng" dirty="0">
                <a:latin typeface="Californian FB" panose="0207040306080B030204" charset="0"/>
                <a:cs typeface="Californian FB" panose="0207040306080B030204" charset="0"/>
              </a:rPr>
              <a:t>Dynamic Thresholds :</a:t>
            </a:r>
            <a:endParaRPr lang="en-IN" altLang="en-US" sz="1750" b="1" u="sng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Implementing dynamic thresholds</a:t>
            </a:r>
            <a:r>
              <a:rPr lang="en-IN" altLang="en-US" sz="1750" b="1" dirty="0">
                <a:latin typeface="Californian FB" panose="0207040306080B030204" charset="0"/>
                <a:cs typeface="Californian FB" panose="0207040306080B030204" charset="0"/>
              </a:rPr>
              <a:t> </a:t>
            </a: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for session duration calculation to adapt to varying user behaviors.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b="1" u="sng" dirty="0">
                <a:latin typeface="Californian FB" panose="0207040306080B030204" charset="0"/>
                <a:cs typeface="Californian FB" panose="0207040306080B030204" charset="0"/>
              </a:rPr>
              <a:t>Incorporating Idle Time :</a:t>
            </a:r>
            <a:endParaRPr lang="en-IN" altLang="en-US" sz="1750" b="1" u="sng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Considering idle time and active time to provide a holistic view of session durations.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81768" y="4019193"/>
            <a:ext cx="5110639" cy="66651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5250"/>
              </a:lnSpc>
              <a:buNone/>
            </a:pPr>
            <a:endParaRPr lang="en-US" sz="5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26116" y="4963358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endParaRPr lang="en-US" sz="218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81768" y="5443776"/>
            <a:ext cx="5110639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2800"/>
              </a:lnSpc>
              <a:buNone/>
            </a:pPr>
            <a:endParaRPr 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" y="-7239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1270" y="-72390"/>
            <a:ext cx="14630400" cy="8229600"/>
          </a:xfrm>
          <a:prstGeom prst="rect">
            <a:avLst/>
          </a:prstGeom>
          <a:solidFill>
            <a:srgbClr val="FDFAF7"/>
          </a:solidFill>
        </p:spPr>
      </p:sp>
      <p:sp>
        <p:nvSpPr>
          <p:cNvPr id="4" name="Text 2"/>
          <p:cNvSpPr/>
          <p:nvPr/>
        </p:nvSpPr>
        <p:spPr>
          <a:xfrm>
            <a:off x="2039263" y="2650569"/>
            <a:ext cx="8078629" cy="694373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5470"/>
              </a:lnSpc>
              <a:buNone/>
            </a:pPr>
            <a:r>
              <a:rPr lang="en-IN" altLang="en-US" sz="4375" b="1" dirty="0">
                <a:solidFill>
                  <a:srgbClr val="4F0FBD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Clock on the Back End</a:t>
            </a:r>
            <a:endParaRPr lang="en-IN" altLang="en-US" sz="4375" b="1" kern="0" spc="-131" dirty="0">
              <a:solidFill>
                <a:srgbClr val="4F0FBD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39263" y="3789283"/>
            <a:ext cx="10554414" cy="1644848"/>
          </a:xfrm>
          <a:prstGeom prst="roundRect">
            <a:avLst>
              <a:gd name="adj" fmla="val 607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6883" y="3796903"/>
            <a:ext cx="10538103" cy="63710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270125" y="3937754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solidFill>
                  <a:srgbClr val="272525"/>
                </a:solidFill>
                <a:latin typeface="Times New Roman" panose="02020603050405020304" charset="0"/>
                <a:ea typeface="Eudoxus Sans" pitchFamily="34" charset="-122"/>
                <a:cs typeface="Times New Roman" panose="02020603050405020304" charset="0"/>
              </a:rPr>
              <a:t>Synchronizations</a:t>
            </a:r>
            <a:endParaRPr lang="en-IN" altLang="en-US" sz="1750" dirty="0">
              <a:solidFill>
                <a:srgbClr val="272525"/>
              </a:solidFill>
              <a:latin typeface="Times New Roman" panose="02020603050405020304" charset="0"/>
              <a:ea typeface="Eudoxus Sans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86914" y="3937754"/>
            <a:ext cx="306038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Times New Roman" panose="02020603050405020304" charset="0"/>
                <a:cs typeface="Times New Roman" panose="02020603050405020304" charset="0"/>
              </a:rPr>
              <a:t>Precision</a:t>
            </a: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98623" y="3937754"/>
            <a:ext cx="3064193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Times New Roman" panose="02020603050405020304" charset="0"/>
                <a:cs typeface="Times New Roman" panose="02020603050405020304" charset="0"/>
              </a:rPr>
              <a:t>Reliability</a:t>
            </a:r>
            <a:endParaRPr lang="en-IN" altLang="en-US" sz="17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38985" y="4434205"/>
            <a:ext cx="10537825" cy="234378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2270125" y="4575175"/>
            <a:ext cx="3064510" cy="1491615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Ensuring synchronization with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user devices to accurately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capture session start and end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times.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86279" y="4574858"/>
            <a:ext cx="3060383" cy="71080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Utilizing high-precision timekeeping mechanisms for accurate session time recording.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98305" y="4574540"/>
            <a:ext cx="3064510" cy="149225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Creating full-safe mechanisms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to address time drifts and ensure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consistent back-end clock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accuracy.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20" y="1491615"/>
            <a:ext cx="9306560" cy="7893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5470"/>
              </a:lnSpc>
              <a:buNone/>
            </a:pPr>
            <a:r>
              <a:rPr lang="en-IN" altLang="en-US" sz="4375" dirty="0">
                <a:solidFill>
                  <a:srgbClr val="4F0FBD"/>
                </a:solidFill>
                <a:latin typeface="Times New Roman" panose="02020603050405020304" charset="0"/>
                <a:cs typeface="Times New Roman" panose="02020603050405020304" charset="0"/>
              </a:rPr>
              <a:t>Emergency Alert System</a:t>
            </a:r>
            <a:endParaRPr lang="en-IN" altLang="en-US" sz="4375" dirty="0">
              <a:solidFill>
                <a:srgbClr val="4F0FB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33199" y="3213854"/>
            <a:ext cx="4542115" cy="2006203"/>
          </a:xfrm>
          <a:prstGeom prst="roundRect">
            <a:avLst>
              <a:gd name="adj" fmla="val 498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2990" y="3443645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r>
              <a:rPr lang="en-IN" altLang="en-US" sz="2185" b="1" kern="0" spc="-66" dirty="0">
                <a:solidFill>
                  <a:srgbClr val="272525"/>
                </a:solidFill>
                <a:latin typeface="Times New Roman" panose="02020603050405020304" charset="0"/>
                <a:ea typeface="p22-mackinac-pro" pitchFamily="34" charset="-122"/>
                <a:cs typeface="Times New Roman" panose="02020603050405020304" charset="0"/>
              </a:rPr>
              <a:t>Critical Event Identifications </a:t>
            </a:r>
            <a:endParaRPr lang="en-IN" altLang="en-US" sz="2185" b="1" kern="0" spc="-66" dirty="0">
              <a:solidFill>
                <a:srgbClr val="272525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62990" y="3924062"/>
            <a:ext cx="4082534" cy="1066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Identifying critical session events such as system crashes or prolonged activity.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597485" y="3213854"/>
            <a:ext cx="4542115" cy="2006203"/>
          </a:xfrm>
          <a:prstGeom prst="roundRect">
            <a:avLst>
              <a:gd name="adj" fmla="val 498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7276" y="3443645"/>
            <a:ext cx="2221944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r>
              <a:rPr lang="en-IN" altLang="en-US" sz="2185" b="1" dirty="0">
                <a:latin typeface="Times New Roman" panose="02020603050405020304" charset="0"/>
                <a:cs typeface="Times New Roman" panose="02020603050405020304" charset="0"/>
              </a:rPr>
              <a:t>Real Time Notifications </a:t>
            </a:r>
            <a:endParaRPr lang="en-IN" altLang="en-US" sz="2185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827276" y="3924062"/>
            <a:ext cx="4082534" cy="1066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Triggering real time alerts to designated personnel during emergency situations.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33120" y="5441950"/>
            <a:ext cx="9306560" cy="1526540"/>
          </a:xfrm>
          <a:prstGeom prst="roundRect">
            <a:avLst>
              <a:gd name="adj" fmla="val 771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2990" y="5672018"/>
            <a:ext cx="2928699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r>
              <a:rPr lang="en-IN" altLang="en-US" sz="2185" b="1" dirty="0">
                <a:latin typeface="Times New Roman" panose="02020603050405020304" charset="0"/>
                <a:cs typeface="Times New Roman" panose="02020603050405020304" charset="0"/>
              </a:rPr>
              <a:t>Automated Recovery Protocols</a:t>
            </a:r>
            <a:endParaRPr lang="en-IN" altLang="en-US" sz="2185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62990" y="6152436"/>
            <a:ext cx="8846820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Implementing automated recovery protocols to address critical session events and minimize 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IN" altLang="en-US" sz="1750" dirty="0">
                <a:latin typeface="Californian FB" panose="0207040306080B030204" charset="0"/>
                <a:cs typeface="Californian FB" panose="0207040306080B030204" charset="0"/>
              </a:rPr>
              <a:t>downtime.</a:t>
            </a: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pic>
        <p:nvPicPr>
          <p:cNvPr id="15" name="Image 1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33120" y="1491615"/>
            <a:ext cx="9306560" cy="7893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5470"/>
              </a:lnSpc>
              <a:buNone/>
            </a:pPr>
            <a:endParaRPr lang="en-IN" altLang="en-US" sz="4375" dirty="0">
              <a:solidFill>
                <a:srgbClr val="4F0FB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45405" y="3655695"/>
            <a:ext cx="3221990" cy="918210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 algn="ctr">
              <a:lnSpc>
                <a:spcPts val="2735"/>
              </a:lnSpc>
              <a:buNone/>
            </a:pPr>
            <a:endParaRPr lang="en-IN" altLang="en-US" sz="2185" b="1" kern="0" spc="-66" dirty="0">
              <a:solidFill>
                <a:srgbClr val="272525"/>
              </a:solidFill>
              <a:latin typeface="Times New Roman" panose="02020603050405020304" charset="0"/>
              <a:ea typeface="p22-mackinac-pro" pitchFamily="34" charset="-122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62990" y="3924062"/>
            <a:ext cx="4082534" cy="1066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45286" y="3683397"/>
            <a:ext cx="4082534" cy="1066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62990" y="5672018"/>
            <a:ext cx="2928699" cy="347186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735"/>
              </a:lnSpc>
              <a:buNone/>
            </a:pPr>
            <a:endParaRPr lang="en-IN" altLang="en-US" sz="2185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62990" y="6152436"/>
            <a:ext cx="8846820" cy="355402"/>
          </a:xfrm>
          <a:prstGeom prst="rect">
            <a:avLst/>
          </a:prstGeom>
          <a:noFill/>
        </p:spPr>
        <p:txBody>
          <a:bodyPr wrap="none" rtlCol="0" anchor="t"/>
          <a:lstStyle/>
          <a:p>
            <a:pPr marL="0" indent="0">
              <a:lnSpc>
                <a:spcPts val="2800"/>
              </a:lnSpc>
              <a:buNone/>
            </a:pPr>
            <a:endParaRPr lang="en-IN" altLang="en-US" sz="1750" dirty="0">
              <a:latin typeface="Californian FB" panose="0207040306080B030204" charset="0"/>
              <a:cs typeface="Californian FB" panose="0207040306080B030204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949190" y="3515360"/>
            <a:ext cx="473202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altLang="zh-CN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3142</Words>
  <Application>WPS Presentation</Application>
  <PresentationFormat>On-screen Show (16:9)</PresentationFormat>
  <Paragraphs>125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p22-mackinac-pro</vt:lpstr>
      <vt:lpstr>Californian FB</vt:lpstr>
      <vt:lpstr>Eudoxus Sans</vt:lpstr>
      <vt:lpstr>Microsoft YaHei</vt:lpstr>
      <vt:lpstr>Arial Unicode MS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Parija Raul</cp:lastModifiedBy>
  <cp:revision>6</cp:revision>
  <dcterms:created xsi:type="dcterms:W3CDTF">2024-02-17T16:42:00Z</dcterms:created>
  <dcterms:modified xsi:type="dcterms:W3CDTF">2026-03-07T07:05:24Z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1065089442A44653A8DF61088E484A93_13</vt:lpwstr>
  </property>
  <property fmtid="{D5CDD505-2E9C-101B-9397-08002B2CF9AE}" pid="3" name="KSOProductBuildVer">
    <vt:lpwstr>1033-12.2.0.23196</vt:lpwstr>
  </property>
</Properties>
</file>